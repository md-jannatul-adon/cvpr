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66" r:id="rId2"/>
    <p:sldId id="26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</p:sldIdLst>
  <p:sldSz cx="14630400" cy="8229600"/>
  <p:notesSz cx="8229600" cy="14630400"/>
  <p:embeddedFontLst>
    <p:embeddedFont>
      <p:font typeface="Arial Black" panose="020B0A04020102020204" pitchFamily="34" charset="0"/>
      <p:bold r:id="rId16"/>
    </p:embeddedFont>
    <p:embeddedFont>
      <p:font typeface="Inconsolata" pitchFamily="1" charset="0"/>
      <p:regular r:id="rId17"/>
    </p:embeddedFont>
    <p:embeddedFont>
      <p:font typeface="Montserrat Black" panose="00000A00000000000000" pitchFamily="2" charset="0"/>
      <p:regular r:id="rId18"/>
      <p:bold r:id="rId19"/>
      <p:boldItalic r:id="rId20"/>
    </p:embeddedFont>
    <p:embeddedFont>
      <p:font typeface="Montserrat Light" panose="00000400000000000000" pitchFamily="2" charset="0"/>
      <p:regular r:id="rId21"/>
      <p: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ECE4"/>
    <a:srgbClr val="1516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21" autoAdjust="0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46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40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papers/2410.2072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6DF75DD4-9EFF-3792-8728-0AEFDE351E46}"/>
              </a:ext>
            </a:extLst>
          </p:cNvPr>
          <p:cNvSpPr/>
          <p:nvPr/>
        </p:nvSpPr>
        <p:spPr>
          <a:xfrm flipH="1">
            <a:off x="11323572" y="7364493"/>
            <a:ext cx="3306825" cy="855704"/>
          </a:xfrm>
          <a:prstGeom prst="rtTriangle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6A935B8-2A7B-0243-319C-C0E9EC6CC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47" y="0"/>
            <a:ext cx="4629150" cy="8220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1671DA-A467-F61D-2510-87E2043A3B48}"/>
              </a:ext>
            </a:extLst>
          </p:cNvPr>
          <p:cNvSpPr txBox="1"/>
          <p:nvPr/>
        </p:nvSpPr>
        <p:spPr>
          <a:xfrm>
            <a:off x="1600200" y="4363053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anrope"/>
              </a:rPr>
              <a:t>Exploring </a:t>
            </a:r>
            <a:r>
              <a:rPr lang="en-US" sz="2000" b="1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anrope"/>
              </a:rPr>
              <a:t>ProtoViT</a:t>
            </a:r>
            <a:r>
              <a:rPr lang="en-US" sz="20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anrope"/>
              </a:rPr>
              <a:t> and a </a:t>
            </a:r>
            <a:r>
              <a:rPr lang="en-US" sz="2000" b="1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anrope"/>
              </a:rPr>
              <a:t>ResNet</a:t>
            </a:r>
            <a:r>
              <a:rPr lang="en-US" sz="20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anrope"/>
              </a:rPr>
              <a:t> for Bird Species Recognition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FA90AE-E369-B52D-08F7-2093ED98E800}"/>
              </a:ext>
            </a:extLst>
          </p:cNvPr>
          <p:cNvSpPr txBox="1"/>
          <p:nvPr/>
        </p:nvSpPr>
        <p:spPr>
          <a:xfrm>
            <a:off x="1534886" y="1698563"/>
            <a:ext cx="73152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0" i="0" u="none" strike="noStrike" dirty="0">
                <a:solidFill>
                  <a:schemeClr val="accent1">
                    <a:lumMod val="50000"/>
                  </a:schemeClr>
                </a:solidFill>
                <a:effectLst/>
                <a:latin typeface="Alexandria Medium"/>
              </a:rPr>
              <a:t>Interpretable Vision Transformers for Fine-Grained Classification</a:t>
            </a:r>
            <a:endParaRPr lang="en-US" sz="5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251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2AA86-B6F4-9396-2DEB-49137E296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">
            <a:extLst>
              <a:ext uri="{FF2B5EF4-FFF2-40B4-BE49-F238E27FC236}">
                <a16:creationId xmlns:a16="http://schemas.microsoft.com/office/drawing/2014/main" id="{41A72E43-0A30-AF95-4DC8-591B5F0A28B8}"/>
              </a:ext>
            </a:extLst>
          </p:cNvPr>
          <p:cNvSpPr/>
          <p:nvPr/>
        </p:nvSpPr>
        <p:spPr>
          <a:xfrm flipH="1">
            <a:off x="11323572" y="7364493"/>
            <a:ext cx="3306825" cy="855704"/>
          </a:xfrm>
          <a:prstGeom prst="rtTriangle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F1278DF-63D4-E2BF-FEE6-F9383E9521EC}"/>
              </a:ext>
            </a:extLst>
          </p:cNvPr>
          <p:cNvGraphicFramePr>
            <a:graphicFrameLocks noGrp="1"/>
          </p:cNvGraphicFramePr>
          <p:nvPr/>
        </p:nvGraphicFramePr>
        <p:xfrm>
          <a:off x="1064090" y="5507178"/>
          <a:ext cx="12502219" cy="1375173"/>
        </p:xfrm>
        <a:graphic>
          <a:graphicData uri="http://schemas.openxmlformats.org/drawingml/2006/table">
            <a:tbl>
              <a:tblPr/>
              <a:tblGrid>
                <a:gridCol w="924592">
                  <a:extLst>
                    <a:ext uri="{9D8B030D-6E8A-4147-A177-3AD203B41FA5}">
                      <a16:colId xmlns:a16="http://schemas.microsoft.com/office/drawing/2014/main" val="2093034677"/>
                    </a:ext>
                  </a:extLst>
                </a:gridCol>
                <a:gridCol w="1679800">
                  <a:extLst>
                    <a:ext uri="{9D8B030D-6E8A-4147-A177-3AD203B41FA5}">
                      <a16:colId xmlns:a16="http://schemas.microsoft.com/office/drawing/2014/main" val="3302850020"/>
                    </a:ext>
                  </a:extLst>
                </a:gridCol>
                <a:gridCol w="5530539">
                  <a:extLst>
                    <a:ext uri="{9D8B030D-6E8A-4147-A177-3AD203B41FA5}">
                      <a16:colId xmlns:a16="http://schemas.microsoft.com/office/drawing/2014/main" val="1895401004"/>
                    </a:ext>
                  </a:extLst>
                </a:gridCol>
                <a:gridCol w="2251881">
                  <a:extLst>
                    <a:ext uri="{9D8B030D-6E8A-4147-A177-3AD203B41FA5}">
                      <a16:colId xmlns:a16="http://schemas.microsoft.com/office/drawing/2014/main" val="4278873307"/>
                    </a:ext>
                  </a:extLst>
                </a:gridCol>
                <a:gridCol w="2115407">
                  <a:extLst>
                    <a:ext uri="{9D8B030D-6E8A-4147-A177-3AD203B41FA5}">
                      <a16:colId xmlns:a16="http://schemas.microsoft.com/office/drawing/2014/main" val="1972842064"/>
                    </a:ext>
                  </a:extLst>
                </a:gridCol>
              </a:tblGrid>
              <a:tr h="45839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775"/>
                        </a:lnSpc>
                      </a:pPr>
                      <a:r>
                        <a:rPr lang="en-GB" sz="2400" b="1" i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SL #</a:t>
                      </a:r>
                      <a:r>
                        <a:rPr lang="en-GB" sz="24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41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775"/>
                        </a:lnSpc>
                      </a:pPr>
                      <a:r>
                        <a:rPr lang="en-GB" sz="2400" b="1" i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Students ID</a:t>
                      </a:r>
                      <a:r>
                        <a:rPr lang="en-GB" sz="24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41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775"/>
                        </a:lnSpc>
                      </a:pPr>
                      <a:r>
                        <a:rPr lang="en-GB" sz="2400" b="1" i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Students Name</a:t>
                      </a:r>
                      <a:r>
                        <a:rPr lang="en-GB" sz="24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41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775"/>
                        </a:lnSpc>
                      </a:pPr>
                      <a:r>
                        <a:rPr lang="en-US" sz="2400" b="1" i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Program</a:t>
                      </a:r>
                      <a:r>
                        <a:rPr lang="en-US" sz="24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41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775"/>
                        </a:lnSpc>
                      </a:pPr>
                      <a:r>
                        <a:rPr lang="en-US" sz="2400" b="1" i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Section</a:t>
                      </a:r>
                      <a:r>
                        <a:rPr lang="en-US" sz="24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41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79715"/>
                  </a:ext>
                </a:extLst>
              </a:tr>
              <a:tr h="45839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775"/>
                        </a:lnSpc>
                      </a:pPr>
                      <a:r>
                        <a:rPr lang="en-US" sz="2400" b="0" i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41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775"/>
                        </a:lnSpc>
                      </a:pPr>
                      <a:r>
                        <a:rPr lang="en-US" sz="2400" b="0" i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22-46880-1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41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775"/>
                        </a:lnSpc>
                      </a:pPr>
                      <a:r>
                        <a:rPr lang="en-US" sz="2400" b="0" i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TASMIA JAHAN MILA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41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775"/>
                        </a:lnSpc>
                      </a:pPr>
                      <a:r>
                        <a:rPr lang="en-US" sz="2400" b="0" i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BSc in CSE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41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775"/>
                        </a:lnSpc>
                      </a:pPr>
                      <a:r>
                        <a:rPr lang="en-US" sz="2400" b="0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41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961114"/>
                  </a:ext>
                </a:extLst>
              </a:tr>
              <a:tr h="45839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775"/>
                        </a:lnSpc>
                      </a:pPr>
                      <a:r>
                        <a:rPr lang="en-US" sz="2400" b="0" i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775"/>
                        </a:lnSpc>
                      </a:pPr>
                      <a:r>
                        <a:rPr lang="en-US" sz="2400" b="0" i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22-46887-1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775"/>
                        </a:lnSpc>
                      </a:pPr>
                      <a:r>
                        <a:rPr lang="en-US" sz="2400" b="0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MD.JANNATUL ADON</a:t>
                      </a: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775"/>
                        </a:lnSpc>
                      </a:pPr>
                      <a:r>
                        <a:rPr lang="en-US" sz="2400" b="0" i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BSc in CSE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775"/>
                        </a:lnSpc>
                      </a:pPr>
                      <a:r>
                        <a:rPr lang="en-US" sz="2400" b="0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13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1703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E504319-FECD-95FD-CB4F-F59B2F2EE9C2}"/>
              </a:ext>
            </a:extLst>
          </p:cNvPr>
          <p:cNvSpPr txBox="1"/>
          <p:nvPr/>
        </p:nvSpPr>
        <p:spPr>
          <a:xfrm>
            <a:off x="914119" y="2119037"/>
            <a:ext cx="11397624" cy="145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US" sz="3200" b="1" dirty="0" err="1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ProtoViT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 vs. </a:t>
            </a:r>
            <a:r>
              <a:rPr lang="en-US" sz="3200" b="1" dirty="0" err="1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ResNet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: Interpretable and Standard Models for Fine-Grained Image Classification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94B603-1840-15CE-6B38-DD206BA75BA0}"/>
              </a:ext>
            </a:extLst>
          </p:cNvPr>
          <p:cNvSpPr txBox="1"/>
          <p:nvPr/>
        </p:nvSpPr>
        <p:spPr>
          <a:xfrm>
            <a:off x="1064090" y="4525701"/>
            <a:ext cx="2414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Presented By</a:t>
            </a:r>
          </a:p>
        </p:txBody>
      </p:sp>
    </p:spTree>
    <p:extLst>
      <p:ext uri="{BB962C8B-B14F-4D97-AF65-F5344CB8AC3E}">
        <p14:creationId xmlns:p14="http://schemas.microsoft.com/office/powerpoint/2010/main" val="1853599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5574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Architectural Showdown: ResNet-50 vs. ProtoViT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2224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Exploring the next generation of visual recognition through deep learning. This presentation compares two powerful models, ResNet-50 and ProtoViT, uncovering their core mechanics and performance metrics.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00343"/>
            <a:ext cx="119013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Our Objective: A Comparative Analysis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749284"/>
            <a:ext cx="4196358" cy="2615208"/>
          </a:xfrm>
          <a:prstGeom prst="roundRect">
            <a:avLst>
              <a:gd name="adj" fmla="val 5594"/>
            </a:avLst>
          </a:prstGeom>
          <a:solidFill>
            <a:srgbClr val="F8ECE4"/>
          </a:solidFill>
          <a:ln w="3048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63310" y="4749284"/>
            <a:ext cx="121920" cy="2615208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6" name="Text 3"/>
          <p:cNvSpPr/>
          <p:nvPr/>
        </p:nvSpPr>
        <p:spPr>
          <a:xfrm>
            <a:off x="1142524" y="50065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Train ResNet-50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5496997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benchmark convolutional neural network for image classification.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4749284"/>
            <a:ext cx="4196358" cy="2615208"/>
          </a:xfrm>
          <a:prstGeom prst="roundRect">
            <a:avLst>
              <a:gd name="adj" fmla="val 5594"/>
            </a:avLst>
          </a:prstGeom>
          <a:solidFill>
            <a:srgbClr val="F8ECE4"/>
          </a:solidFill>
          <a:ln w="3048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186482" y="4749284"/>
            <a:ext cx="121920" cy="2615208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10" name="Text 7"/>
          <p:cNvSpPr/>
          <p:nvPr/>
        </p:nvSpPr>
        <p:spPr>
          <a:xfrm>
            <a:off x="5565696" y="50065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Train ProtoViT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565696" y="5496997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 innovative vision transformer with inherent interpretability.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40133" y="4749284"/>
            <a:ext cx="4196358" cy="2615208"/>
          </a:xfrm>
          <a:prstGeom prst="roundRect">
            <a:avLst>
              <a:gd name="adj" fmla="val 5594"/>
            </a:avLst>
          </a:prstGeom>
          <a:solidFill>
            <a:srgbClr val="F8ECE4"/>
          </a:solidFill>
          <a:ln w="3048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609653" y="4749284"/>
            <a:ext cx="121920" cy="2615208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14" name="Text 11"/>
          <p:cNvSpPr/>
          <p:nvPr/>
        </p:nvSpPr>
        <p:spPr>
          <a:xfrm>
            <a:off x="9988868" y="5006578"/>
            <a:ext cx="33664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Compare Key Aspects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988868" y="5496997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Architectural design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9988868" y="5939195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Fundamental working principles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9988868" y="6744295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Classification accuracy</a:t>
            </a:r>
            <a:endParaRPr lang="en-US" sz="1750" dirty="0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6D6C7CAF-86D5-A2C4-9438-FBC9A0B38C3A}"/>
              </a:ext>
            </a:extLst>
          </p:cNvPr>
          <p:cNvSpPr/>
          <p:nvPr/>
        </p:nvSpPr>
        <p:spPr>
          <a:xfrm flipH="1">
            <a:off x="11323572" y="7364493"/>
            <a:ext cx="3306825" cy="855704"/>
          </a:xfrm>
          <a:prstGeom prst="rtTriangle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449" y="900946"/>
            <a:ext cx="12304276" cy="65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ResNet-50: The Power of Residual Learning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35449" y="1977747"/>
            <a:ext cx="4246483" cy="2738557"/>
          </a:xfrm>
          <a:prstGeom prst="roundRect">
            <a:avLst>
              <a:gd name="adj" fmla="val 334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53095" y="2195393"/>
            <a:ext cx="630317" cy="630317"/>
          </a:xfrm>
          <a:prstGeom prst="roundRect">
            <a:avLst>
              <a:gd name="adj" fmla="val 14505535"/>
            </a:avLst>
          </a:prstGeom>
          <a:solidFill>
            <a:srgbClr val="15161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450" y="2368748"/>
            <a:ext cx="283607" cy="2836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3095" y="3035737"/>
            <a:ext cx="3502462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Convolutional Backbone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53095" y="3489960"/>
            <a:ext cx="3811191" cy="100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Foundation built on powerful Convolutional Neural Networks (CNNs).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191958" y="1977747"/>
            <a:ext cx="4246483" cy="2738557"/>
          </a:xfrm>
          <a:prstGeom prst="roundRect">
            <a:avLst>
              <a:gd name="adj" fmla="val 334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09605" y="2195393"/>
            <a:ext cx="630317" cy="630317"/>
          </a:xfrm>
          <a:prstGeom prst="roundRect">
            <a:avLst>
              <a:gd name="adj" fmla="val 14505535"/>
            </a:avLst>
          </a:prstGeom>
          <a:solidFill>
            <a:srgbClr val="15161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2960" y="2368748"/>
            <a:ext cx="283607" cy="28360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09605" y="3035737"/>
            <a:ext cx="2626638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Residual Blocks</a:t>
            </a:r>
            <a:endParaRPr lang="en-US" sz="2050" dirty="0"/>
          </a:p>
        </p:txBody>
      </p:sp>
      <p:sp>
        <p:nvSpPr>
          <p:cNvPr id="12" name="Text 8"/>
          <p:cNvSpPr/>
          <p:nvPr/>
        </p:nvSpPr>
        <p:spPr>
          <a:xfrm>
            <a:off x="5409605" y="3489960"/>
            <a:ext cx="3811191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Key innovation to overcome vanishing gradients in deep networks.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9648468" y="1977747"/>
            <a:ext cx="4246483" cy="2738557"/>
          </a:xfrm>
          <a:prstGeom prst="roundRect">
            <a:avLst>
              <a:gd name="adj" fmla="val 334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866114" y="2195393"/>
            <a:ext cx="630317" cy="630317"/>
          </a:xfrm>
          <a:prstGeom prst="roundRect">
            <a:avLst>
              <a:gd name="adj" fmla="val 14505535"/>
            </a:avLst>
          </a:prstGeom>
          <a:solidFill>
            <a:srgbClr val="15161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39469" y="2368748"/>
            <a:ext cx="283607" cy="28360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114" y="3035737"/>
            <a:ext cx="2639139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Deep Layer Stacks</a:t>
            </a:r>
            <a:endParaRPr lang="en-US" sz="2050" dirty="0"/>
          </a:p>
        </p:txBody>
      </p:sp>
      <p:sp>
        <p:nvSpPr>
          <p:cNvPr id="17" name="Text 12"/>
          <p:cNvSpPr/>
          <p:nvPr/>
        </p:nvSpPr>
        <p:spPr>
          <a:xfrm>
            <a:off x="9866114" y="3489960"/>
            <a:ext cx="3811191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Multiple convolution and pooling layers for feature extraction.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735449" y="4926330"/>
            <a:ext cx="6474738" cy="2402324"/>
          </a:xfrm>
          <a:prstGeom prst="roundRect">
            <a:avLst>
              <a:gd name="adj" fmla="val 381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53095" y="5143976"/>
            <a:ext cx="630317" cy="630317"/>
          </a:xfrm>
          <a:prstGeom prst="roundRect">
            <a:avLst>
              <a:gd name="adj" fmla="val 14505535"/>
            </a:avLst>
          </a:prstGeom>
          <a:solidFill>
            <a:srgbClr val="15161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6450" y="5317331"/>
            <a:ext cx="283607" cy="28360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53095" y="5984319"/>
            <a:ext cx="3331845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Global Average Pooling</a:t>
            </a:r>
            <a:endParaRPr lang="en-US" sz="2050" dirty="0"/>
          </a:p>
        </p:txBody>
      </p:sp>
      <p:sp>
        <p:nvSpPr>
          <p:cNvPr id="22" name="Text 16"/>
          <p:cNvSpPr/>
          <p:nvPr/>
        </p:nvSpPr>
        <p:spPr>
          <a:xfrm>
            <a:off x="953095" y="6438543"/>
            <a:ext cx="6039445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Reduces spatial dimensions, making the model more robust.</a:t>
            </a:r>
            <a:endParaRPr lang="en-US" sz="1650" dirty="0"/>
          </a:p>
        </p:txBody>
      </p:sp>
      <p:sp>
        <p:nvSpPr>
          <p:cNvPr id="23" name="Shape 17"/>
          <p:cNvSpPr/>
          <p:nvPr/>
        </p:nvSpPr>
        <p:spPr>
          <a:xfrm>
            <a:off x="7420213" y="4926330"/>
            <a:ext cx="6474738" cy="2402324"/>
          </a:xfrm>
          <a:prstGeom prst="roundRect">
            <a:avLst>
              <a:gd name="adj" fmla="val 381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637859" y="5143976"/>
            <a:ext cx="630317" cy="630317"/>
          </a:xfrm>
          <a:prstGeom prst="roundRect">
            <a:avLst>
              <a:gd name="adj" fmla="val 14505535"/>
            </a:avLst>
          </a:prstGeom>
          <a:solidFill>
            <a:srgbClr val="151617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11214" y="5317331"/>
            <a:ext cx="283607" cy="28360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37859" y="5984319"/>
            <a:ext cx="3411141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Fully Connected Output</a:t>
            </a:r>
            <a:endParaRPr lang="en-US" sz="2050" dirty="0"/>
          </a:p>
        </p:txBody>
      </p:sp>
      <p:sp>
        <p:nvSpPr>
          <p:cNvPr id="27" name="Text 20"/>
          <p:cNvSpPr/>
          <p:nvPr/>
        </p:nvSpPr>
        <p:spPr>
          <a:xfrm>
            <a:off x="7637859" y="6438543"/>
            <a:ext cx="6039445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Final layer responsible for producing classification probabilities.</a:t>
            </a:r>
            <a:endParaRPr lang="en-US" sz="1650" dirty="0"/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857E7EE5-527E-5A13-1C85-540DF7199CAC}"/>
              </a:ext>
            </a:extLst>
          </p:cNvPr>
          <p:cNvSpPr/>
          <p:nvPr/>
        </p:nvSpPr>
        <p:spPr>
          <a:xfrm flipH="1">
            <a:off x="11323572" y="7364493"/>
            <a:ext cx="3306825" cy="855704"/>
          </a:xfrm>
          <a:prstGeom prst="rtTriangle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361" y="622578"/>
            <a:ext cx="7660124" cy="707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ResNet-50: How it Works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61" y="1924288"/>
            <a:ext cx="2847261" cy="28472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2361" y="5026223"/>
            <a:ext cx="2847261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Local Feature Learning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2361" y="5960031"/>
            <a:ext cx="2847261" cy="1449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CNNs excel at capturing spatial hierarchies and localized patterns within an image.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9453" y="1924288"/>
            <a:ext cx="2847261" cy="28472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99453" y="5026223"/>
            <a:ext cx="2847261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Hierarchical Representation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99453" y="5960031"/>
            <a:ext cx="2847261" cy="1449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Builds increasingly complex features from edges to textures to object parts.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6546" y="1924288"/>
            <a:ext cx="2847261" cy="28472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06546" y="5026223"/>
            <a:ext cx="2847261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Single Decision Head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606546" y="5960031"/>
            <a:ext cx="2847261" cy="108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All learned features converge into a singular classification output.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3638" y="1924288"/>
            <a:ext cx="2847261" cy="284726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013638" y="5026223"/>
            <a:ext cx="2847261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Limited Interpretability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1013638" y="5960031"/>
            <a:ext cx="2847261" cy="1449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decision-making process is largely opaque, making it a "black box" model.</a:t>
            </a:r>
            <a:endParaRPr lang="en-US" sz="1750" dirty="0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7B0AA9AC-C1AE-85E4-D4EB-0C0D602DD3B0}"/>
              </a:ext>
            </a:extLst>
          </p:cNvPr>
          <p:cNvSpPr/>
          <p:nvPr/>
        </p:nvSpPr>
        <p:spPr>
          <a:xfrm flipH="1">
            <a:off x="11323572" y="7364493"/>
            <a:ext cx="3306825" cy="855704"/>
          </a:xfrm>
          <a:prstGeom prst="rtTriangle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4814" y="586502"/>
            <a:ext cx="7847171" cy="1158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ProtoViT: Vision with Prototypes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134814" y="2022396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134814" y="2314456"/>
            <a:ext cx="7847171" cy="2286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6" name="Text 3"/>
          <p:cNvSpPr/>
          <p:nvPr/>
        </p:nvSpPr>
        <p:spPr>
          <a:xfrm>
            <a:off x="6134814" y="2452807"/>
            <a:ext cx="2316123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Patch Embedding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34814" y="2853333"/>
            <a:ext cx="7847171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Images are divided into fixed-size patches, each transformed into a token.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134814" y="3473887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34814" y="3765947"/>
            <a:ext cx="7847171" cy="2286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0" name="Text 7"/>
          <p:cNvSpPr/>
          <p:nvPr/>
        </p:nvSpPr>
        <p:spPr>
          <a:xfrm>
            <a:off x="6134814" y="3904297"/>
            <a:ext cx="2402086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Vision Transformer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134814" y="4304824"/>
            <a:ext cx="7847171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Leverages self-attention mechanisms to learn global relationships between patches.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134814" y="4925378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134814" y="5217438"/>
            <a:ext cx="7847171" cy="2286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4" name="Text 11"/>
          <p:cNvSpPr/>
          <p:nvPr/>
        </p:nvSpPr>
        <p:spPr>
          <a:xfrm>
            <a:off x="6134814" y="5355788"/>
            <a:ext cx="2316123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Prototype Layer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134814" y="5756315"/>
            <a:ext cx="7847171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Introduces learnable prototypes that represent key visual concepts or parts.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134814" y="6376868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134814" y="6668929"/>
            <a:ext cx="7847171" cy="2286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8" name="Text 15"/>
          <p:cNvSpPr/>
          <p:nvPr/>
        </p:nvSpPr>
        <p:spPr>
          <a:xfrm>
            <a:off x="6134814" y="6807279"/>
            <a:ext cx="2805112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Evidence Aggregation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134814" y="7207806"/>
            <a:ext cx="7847171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Combines similarities to prototypes for a final, interpretable classification.</a:t>
            </a:r>
            <a:endParaRPr lang="en-US" sz="1450" dirty="0"/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CA231E91-A3C1-E985-073D-C0A31F7BD2C9}"/>
              </a:ext>
            </a:extLst>
          </p:cNvPr>
          <p:cNvSpPr/>
          <p:nvPr/>
        </p:nvSpPr>
        <p:spPr>
          <a:xfrm flipH="1">
            <a:off x="11323572" y="7364493"/>
            <a:ext cx="3306825" cy="855704"/>
          </a:xfrm>
          <a:prstGeom prst="rtTriangle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841" y="1356836"/>
            <a:ext cx="9248775" cy="566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ProtoViT: The Interpretable Approach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42" y="2404586"/>
            <a:ext cx="3227665" cy="217658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5026" y="2404586"/>
            <a:ext cx="3227665" cy="217658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7709" y="2404586"/>
            <a:ext cx="3227665" cy="217658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0393" y="2404586"/>
            <a:ext cx="3227665" cy="2176582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634841" y="5084683"/>
            <a:ext cx="2393990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Patch-Level Tokens</a:t>
            </a:r>
            <a:endParaRPr lang="en-US" sz="1750" dirty="0"/>
          </a:p>
        </p:txBody>
      </p:sp>
      <p:sp>
        <p:nvSpPr>
          <p:cNvPr id="8" name="Text 2"/>
          <p:cNvSpPr/>
          <p:nvPr/>
        </p:nvSpPr>
        <p:spPr>
          <a:xfrm>
            <a:off x="634841" y="5549384"/>
            <a:ext cx="3008352" cy="580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Breaks down the image into discrete elements for processing.</a:t>
            </a:r>
            <a:endParaRPr lang="en-US" sz="1400" dirty="0"/>
          </a:p>
        </p:txBody>
      </p:sp>
      <p:sp>
        <p:nvSpPr>
          <p:cNvPr id="9" name="Text 3"/>
          <p:cNvSpPr/>
          <p:nvPr/>
        </p:nvSpPr>
        <p:spPr>
          <a:xfrm>
            <a:off x="4093250" y="5084683"/>
            <a:ext cx="2267188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Global Attention</a:t>
            </a:r>
            <a:endParaRPr lang="en-US" sz="1750" dirty="0"/>
          </a:p>
        </p:txBody>
      </p:sp>
      <p:sp>
        <p:nvSpPr>
          <p:cNvPr id="10" name="Text 4"/>
          <p:cNvSpPr/>
          <p:nvPr/>
        </p:nvSpPr>
        <p:spPr>
          <a:xfrm>
            <a:off x="4093250" y="5549384"/>
            <a:ext cx="3008352" cy="870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Considers relationships between all patches, capturing long-range dependencies.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7551658" y="5084683"/>
            <a:ext cx="2482810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Prototype Similarity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7551658" y="5549384"/>
            <a:ext cx="3008352" cy="870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Compares learned features to established "prototypes" to make a decision.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11010067" y="5084683"/>
            <a:ext cx="2694384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Explainable Decisions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11010067" y="5549384"/>
            <a:ext cx="3008352" cy="1160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Each classification can be traced back to specific image regions and their resemblance to prototypes.</a:t>
            </a:r>
            <a:endParaRPr lang="en-US" sz="1400" dirty="0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2B1BCD4B-1798-4BAE-0337-9132DD529BB8}"/>
              </a:ext>
            </a:extLst>
          </p:cNvPr>
          <p:cNvSpPr/>
          <p:nvPr/>
        </p:nvSpPr>
        <p:spPr>
          <a:xfrm flipH="1">
            <a:off x="11323572" y="7364493"/>
            <a:ext cx="3306825" cy="855704"/>
          </a:xfrm>
          <a:prstGeom prst="rtTriangle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91151"/>
            <a:ext cx="75022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Architecture at a Glance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535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side-by-side comparison of the fundamental components and characteristics.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71612"/>
            <a:ext cx="13042821" cy="3266837"/>
          </a:xfrm>
          <a:prstGeom prst="roundRect">
            <a:avLst>
              <a:gd name="adj" fmla="val 28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37923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462" y="3522940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Aspect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289108" y="3522940"/>
            <a:ext cx="44240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ResNet-50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174361" y="3522940"/>
            <a:ext cx="4427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ProtoViT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402955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462" y="4173260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Backbone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289108" y="4173260"/>
            <a:ext cx="44240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CNN (Convolutional Neural Network)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174361" y="4173260"/>
            <a:ext cx="4427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ViT (Vision Transformer)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67987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8462" y="482357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Feature Extraction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4289108" y="4823579"/>
            <a:ext cx="44240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Spatial Hierarchies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174361" y="4823579"/>
            <a:ext cx="4427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Patch Tokens with Global Attention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330190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462" y="547389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Decision Mechanism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4289108" y="5473898"/>
            <a:ext cx="44240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Fully Connected Layer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174361" y="5473898"/>
            <a:ext cx="4427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Prototype Similarity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801410" y="598050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28462" y="612421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Interpretability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4289108" y="6124218"/>
            <a:ext cx="44240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Limited (Black Box)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9174361" y="6124218"/>
            <a:ext cx="4427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Inherent (Explainable)</a:t>
            </a:r>
            <a:endParaRPr lang="en-US" sz="1750" dirty="0"/>
          </a:p>
        </p:txBody>
      </p:sp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FCA581A0-BE2D-CE24-1815-51AFEA94C27F}"/>
              </a:ext>
            </a:extLst>
          </p:cNvPr>
          <p:cNvSpPr/>
          <p:nvPr/>
        </p:nvSpPr>
        <p:spPr>
          <a:xfrm flipH="1">
            <a:off x="11323572" y="7364493"/>
            <a:ext cx="3306825" cy="855704"/>
          </a:xfrm>
          <a:prstGeom prst="rtTriangle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5305" y="420648"/>
            <a:ext cx="9111972" cy="47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Performance Metrics: Accuracy Comparison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9152"/>
            <a:ext cx="13090143" cy="733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5305" y="8970050"/>
            <a:ext cx="13559790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 our evaluation, ProtoViT demonstrates a significant leap in accuracy compared to the established ResNet-50 model on the tested dataset.</a:t>
            </a:r>
            <a:endParaRPr lang="en-US" sz="1200" dirty="0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9A300843-7824-5F7D-6796-7C961EA7F081}"/>
              </a:ext>
            </a:extLst>
          </p:cNvPr>
          <p:cNvSpPr/>
          <p:nvPr/>
        </p:nvSpPr>
        <p:spPr>
          <a:xfrm flipH="1">
            <a:off x="12758056" y="4114800"/>
            <a:ext cx="1872340" cy="4105397"/>
          </a:xfrm>
          <a:prstGeom prst="rtTriangle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2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7805" y="598289"/>
            <a:ext cx="7621191" cy="1359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Observations and Insights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6247805" y="2284214"/>
            <a:ext cx="30480" cy="5348764"/>
          </a:xfrm>
          <a:prstGeom prst="roundRect">
            <a:avLst>
              <a:gd name="adj" fmla="val 30000"/>
            </a:avLst>
          </a:prstGeom>
          <a:solidFill>
            <a:srgbClr val="151617"/>
          </a:solidFill>
          <a:ln/>
        </p:spPr>
      </p:sp>
      <p:sp>
        <p:nvSpPr>
          <p:cNvPr id="5" name="Shape 2"/>
          <p:cNvSpPr/>
          <p:nvPr/>
        </p:nvSpPr>
        <p:spPr>
          <a:xfrm>
            <a:off x="6278285" y="2284214"/>
            <a:ext cx="7621191" cy="2456855"/>
          </a:xfrm>
          <a:prstGeom prst="rect">
            <a:avLst/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95812" y="2509361"/>
            <a:ext cx="5922764" cy="40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ResNet-50: Established Strengths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6495812" y="3047762"/>
            <a:ext cx="7178516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Simple &amp; Efficient:</a:t>
            </a: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Well-understood architecture, optimized for speed and deployment.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95812" y="3819882"/>
            <a:ext cx="7178516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Robust Performance:</a:t>
            </a: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 reliable choice for a wide range of vision tasks.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78285" y="5176123"/>
            <a:ext cx="7621191" cy="2456855"/>
          </a:xfrm>
          <a:prstGeom prst="rect">
            <a:avLst/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5812" y="5401270"/>
            <a:ext cx="5325785" cy="40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ProtoViT: The Future of Vision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6495812" y="5939671"/>
            <a:ext cx="7178516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Interpretable by Design:</a:t>
            </a: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Offers transparency into its decision-making process.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95812" y="6711791"/>
            <a:ext cx="7178516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Superior Accuracy:</a:t>
            </a: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Achieves higher performance, particularly in complex scenarios.</a:t>
            </a:r>
            <a:endParaRPr lang="en-US" sz="1700" dirty="0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706BCCBC-7125-7FFE-807F-42BF477CFF36}"/>
              </a:ext>
            </a:extLst>
          </p:cNvPr>
          <p:cNvSpPr/>
          <p:nvPr/>
        </p:nvSpPr>
        <p:spPr>
          <a:xfrm flipH="1">
            <a:off x="9158703" y="7542054"/>
            <a:ext cx="5486401" cy="687546"/>
          </a:xfrm>
          <a:prstGeom prst="rtTriangle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797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274" y="3070503"/>
            <a:ext cx="13151763" cy="594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Conclusion: Bridging Accuracy and Interpretability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274" y="3950851"/>
            <a:ext cx="4432578" cy="76140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6536" y="4902518"/>
            <a:ext cx="3276481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ResNet-50: Standard CNN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856536" y="5314117"/>
            <a:ext cx="4052054" cy="913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powerful, mature CNN architecture, foundational for many deep learning applications.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8852" y="3950851"/>
            <a:ext cx="4432578" cy="7614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89113" y="4902518"/>
            <a:ext cx="4052054" cy="594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ProtoViT: Interpretable Transformer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5289113" y="5611535"/>
            <a:ext cx="4052054" cy="913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novel approach leveraging transformers for vision, offering both high accuracy and crucial explainability.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1429" y="3950851"/>
            <a:ext cx="4432578" cy="7614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21691" y="4902518"/>
            <a:ext cx="4052054" cy="594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Accuracy-Interpretability Trade-off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721691" y="5611535"/>
            <a:ext cx="4052054" cy="913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comparison highlights a clear divergence, pushing boundaries in both performance and understanding.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666274" y="6929557"/>
            <a:ext cx="13297852" cy="60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emergence of models like ProtoViT signals a shift towards not just achieving high accuracy, but also understanding </a:t>
            </a:r>
            <a:r>
              <a:rPr lang="en-US" sz="14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why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an AI makes its decisions. This is crucial for building trust and enabling broader adoption in critical domains.</a:t>
            </a:r>
            <a:endParaRPr lang="en-US" sz="1450" dirty="0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A8CA08B9-048E-8EB8-CCB2-D81620B27D1D}"/>
              </a:ext>
            </a:extLst>
          </p:cNvPr>
          <p:cNvSpPr/>
          <p:nvPr/>
        </p:nvSpPr>
        <p:spPr>
          <a:xfrm flipH="1">
            <a:off x="11323572" y="7364493"/>
            <a:ext cx="3306825" cy="855704"/>
          </a:xfrm>
          <a:prstGeom prst="rtTriangle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E2E74-2C17-EAF0-D164-A94B937E0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">
            <a:extLst>
              <a:ext uri="{FF2B5EF4-FFF2-40B4-BE49-F238E27FC236}">
                <a16:creationId xmlns:a16="http://schemas.microsoft.com/office/drawing/2014/main" id="{D83917F5-79F8-50DD-4975-ACB333BC7FE4}"/>
              </a:ext>
            </a:extLst>
          </p:cNvPr>
          <p:cNvSpPr/>
          <p:nvPr/>
        </p:nvSpPr>
        <p:spPr>
          <a:xfrm flipH="1">
            <a:off x="11323572" y="7364493"/>
            <a:ext cx="3306825" cy="855704"/>
          </a:xfrm>
          <a:prstGeom prst="rtTriangle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5DFEFE-9BF9-73A9-8C79-3EF6320905A7}"/>
              </a:ext>
            </a:extLst>
          </p:cNvPr>
          <p:cNvSpPr txBox="1"/>
          <p:nvPr/>
        </p:nvSpPr>
        <p:spPr>
          <a:xfrm>
            <a:off x="1208315" y="1143391"/>
            <a:ext cx="73152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Reference </a:t>
            </a:r>
            <a:r>
              <a:rPr lang="en-US" sz="3200" dirty="0"/>
              <a:t>:</a:t>
            </a:r>
          </a:p>
          <a:p>
            <a:r>
              <a:rPr lang="en-US" sz="3200" dirty="0"/>
              <a:t> </a:t>
            </a:r>
            <a:r>
              <a:rPr lang="en-US" sz="2400" dirty="0">
                <a:hlinkClick r:id="rId2" tooltip="https://huggingface.co/papers/2410.20722"/>
              </a:rPr>
              <a:t>https://huggingface.co/papers/2410.20722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41483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672</Words>
  <Application>Microsoft Office PowerPoint</Application>
  <PresentationFormat>Custom</PresentationFormat>
  <Paragraphs>118</Paragraphs>
  <Slides>13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TASMIA JAHAN MILA</cp:lastModifiedBy>
  <cp:revision>4</cp:revision>
  <dcterms:created xsi:type="dcterms:W3CDTF">2026-01-04T10:43:59Z</dcterms:created>
  <dcterms:modified xsi:type="dcterms:W3CDTF">2026-01-21T16:47:36Z</dcterms:modified>
</cp:coreProperties>
</file>